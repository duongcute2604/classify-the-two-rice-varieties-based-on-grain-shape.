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192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8C76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17 — HỌC MÁY CƠ BẢN (BASIC MACHINE LEARNING)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952500"/>
            <a:ext cx="10687050" cy="170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F5F2E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Phân loại 2 giống gạo Cammeo và Osmancik từ hình dạng hạt (Rice classification from grain shape)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851696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700"/>
              </a:spcAft>
              <a:buNone/>
            </a:pPr>
            <a:r>
              <a:rPr lang="en-US" sz="1800" dirty="0">
                <a:solidFill>
                  <a:srgbClr val="D8D2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Câu hỏi nghiên cứu (Research question): cây quyết định (Decision Tree) tối giản có đủ chính xác, hay cần rừng ngẫu nhiên (Random Forest)?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3727996"/>
            <a:ext cx="2864941" cy="1247775"/>
          </a:xfrm>
          <a:prstGeom prst="roundRect">
            <a:avLst>
              <a:gd name="adj" fmla="val 9160"/>
            </a:avLst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3918496"/>
            <a:ext cx="23781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8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3.810 mẫu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76300" y="4404271"/>
            <a:ext cx="23781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275" dirty="0">
                <a:solidFill>
                  <a:srgbClr val="D8D2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Dữ liệu UCI Rice thật (Real data)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741241" y="3727996"/>
            <a:ext cx="3827264" cy="1247775"/>
          </a:xfrm>
          <a:prstGeom prst="roundRect">
            <a:avLst>
              <a:gd name="adj" fmla="val 9160"/>
            </a:avLst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7941" y="3918496"/>
            <a:ext cx="33597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8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91,78%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07941" y="4404271"/>
            <a:ext cx="33597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275" dirty="0">
                <a:solidFill>
                  <a:srgbClr val="D8D2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Độ chính xác trên tập kiểm thử (Test accuracy)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835205" y="3727996"/>
            <a:ext cx="3747195" cy="1247775"/>
          </a:xfrm>
          <a:prstGeom prst="roundRect">
            <a:avLst>
              <a:gd name="adj" fmla="val 9160"/>
            </a:avLst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01905" y="3918496"/>
            <a:ext cx="32780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8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97,69%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01905" y="4404271"/>
            <a:ext cx="32780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275" dirty="0">
                <a:solidFill>
                  <a:srgbClr val="D8D2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ROC-AUC trên tập kiểm thử (Test ROC-AUC)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09600" y="5318671"/>
            <a:ext cx="11192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1200" dirty="0">
                <a:solidFill>
                  <a:srgbClr val="A9A2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Nhóm 2 sinh viên — Lớp 12523W.1 — GVHD: PGS.TS. Nguyễn Văn Hậu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572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 — BỐI CẢNH &amp; MỤC TIÊU (CONTEXT &amp; OBJECTIVES)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723900"/>
            <a:ext cx="106870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Cơ sở đóng gói cần sàng lọc sơ bộ 2 giống gạo bằng ảnh hạt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809750"/>
            <a:ext cx="5334000" cy="283845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D9D2C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9625" y="2047875"/>
            <a:ext cx="48771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5C4A1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Bài toán (Problem)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09625" y="2409825"/>
            <a:ext cx="487718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Phân loại nhị phân (Binary classification): mỗi hạt gạo gán 1 trong 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nhãn (labels): Cammeo hoặc Osmancik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9625" y="3362325"/>
            <a:ext cx="487718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Đầu vào (Input): 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đặc trưng hình học (geometric features)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trích từ ảnh. Đầu ra (Output): giống gạo + xác suất (probability) + quy tắc cây (decision path).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0" y="1809750"/>
            <a:ext cx="5334000" cy="283845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D9D2C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8425" y="2047875"/>
            <a:ext cx="48771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5C4A1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Mục tiêu đo được (Measurable goals)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48425" y="2409825"/>
            <a:ext cx="48771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Vượt baseline lớp phổ biến (Majority baseline) F1 = 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0,7283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trên validation.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8425" y="3076575"/>
            <a:ext cx="48771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Chốt bằng 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lần đánh giá duy nhất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trên tập kiểm thử (test set) độc lập 572 mẫu.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8425" y="3743325"/>
            <a:ext cx="48771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Đóng gói thành web demo có API 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 /api/rice-classify</a:t>
            </a:r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chạy bằng chuột.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191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 — DỮ LIỆU &amp; LÀM SẠCH (DATA &amp; CLEANING)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85800"/>
            <a:ext cx="1088136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3.810 mẫu thật: Osmancik 2.180 mẫu (57,2%), Cammeo 1.630 mẫu (42,8%)</a:t>
            </a:r>
            <a:endParaRPr lang="en-US" sz="2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695450"/>
          <a:ext cx="9144000" cy="914400"/>
        </p:xfrm>
        <a:graphic>
          <a:graphicData uri="http://schemas.openxmlformats.org/drawingml/2006/table">
            <a:tbl>
              <a:tblPr/>
              <a:tblGrid>
                <a:gridCol w="2961238"/>
                <a:gridCol w="4876063"/>
                <a:gridCol w="3287898"/>
              </a:tblGrid>
              <a:tr h="411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Kiểm tra (Check)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Kết quả (Result)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Quyết định (Decision)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2C"/>
                    </a:solidFill>
                  </a:tcPr>
                </a:tc>
              </a:tr>
              <a:tr h="411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Giá trị thiếu (Missing values)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0 ô thiếu trên 30.480 ô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Không cần bù đắp (imputation)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1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Bản ghi trùng (Duplicates)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0 dòng trùng trong 3.810 dòng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Giữ nguyên 3.810 mẫu huấn luyện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2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Ngoại lệ IQR (Outliers, không dùng nhãn)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Cao nhất: MinorAxis (Trục ngắn) 65 mẫu (1,71%); 3 cột bằng 0 mẫu (0,0%)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Chỉ báo cáo, không xóa để tránh sai lệch (bias)</a:t>
                      </a:r>
                      <a:endParaRPr lang="en-US" sz="142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400" y="3686175"/>
            <a:ext cx="10881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buNone/>
            </a:pPr>
            <a:r>
              <a:rPr lang="en-US" sz="1350" dirty="0">
                <a:solidFill>
                  <a:srgbClr val="44444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Nguồn (Source): UCI Rice Cammeo and Osmancik, giấy phép CC BY 4.0. Tải bằng script, không commit file dữ liệu vào Git.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191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 — CHỐNG RÒ RỈ DỮ LIỆU (NO DATA LEAKAGE)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85800"/>
            <a:ext cx="1088136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Chia trước, học sau: train 2.667 — validation 571 — test 572 mẫu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33400" y="1695450"/>
            <a:ext cx="1397347" cy="695325"/>
          </a:xfrm>
          <a:prstGeom prst="rect">
            <a:avLst/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1847850"/>
            <a:ext cx="103667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TRAIN 70%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3900" y="2066925"/>
            <a:ext cx="10366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2.667 mẫu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30747" y="1695450"/>
            <a:ext cx="476250" cy="695325"/>
          </a:xfrm>
          <a:prstGeom prst="rect">
            <a:avLst/>
          </a:prstGeom>
          <a:solidFill>
            <a:srgbClr val="E8C7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45047" y="1847850"/>
            <a:ext cx="25260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406997" y="1695450"/>
            <a:ext cx="1982242" cy="695325"/>
          </a:xfrm>
          <a:prstGeom prst="rect">
            <a:avLst/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97497" y="1847850"/>
            <a:ext cx="163326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VALIDATION 15%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97497" y="2066925"/>
            <a:ext cx="16332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571 mẫu, chọn mô hình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239" y="1695450"/>
            <a:ext cx="476250" cy="695325"/>
          </a:xfrm>
          <a:prstGeom prst="rect">
            <a:avLst/>
          </a:prstGeom>
          <a:solidFill>
            <a:srgbClr val="E8C7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3539" y="1847850"/>
            <a:ext cx="25260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865489" y="1695450"/>
            <a:ext cx="2016323" cy="695325"/>
          </a:xfrm>
          <a:prstGeom prst="rect">
            <a:avLst/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55989" y="1847850"/>
            <a:ext cx="16680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15%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55989" y="2066925"/>
            <a:ext cx="1668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572 mẫu, đánh giá 1 lần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3400" y="2581275"/>
            <a:ext cx="106680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7650" indent="-247650">
              <a:lnSpc>
                <a:spcPts val="2475"/>
              </a:lnSpc>
              <a:buSzPct val="100000"/>
              <a:buChar char="•"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Chia phân tầng (Stratified split), seed (hạt giống) = 42: tỷ lệ Cammeo giữ nguyên 42,8% ở cả 3 tập.</a:t>
            </a:r>
            <a:endParaRPr lang="en-US" sz="1500" dirty="0"/>
          </a:p>
          <a:p>
            <a:pPr algn="l" marL="247650" indent="-247650">
              <a:lnSpc>
                <a:spcPts val="2475"/>
              </a:lnSpc>
              <a:buSzPct val="100000"/>
              <a:buChar char="•"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Kiểm tra bằng mã băm (hash): 0 mẫu giao nhau giữa 3 tập.</a:t>
            </a:r>
            <a:endParaRPr lang="en-US" sz="1500" dirty="0"/>
          </a:p>
          <a:p>
            <a:pPr algn="l" marL="247650" indent="-247650">
              <a:lnSpc>
                <a:spcPts val="2475"/>
              </a:lnSpc>
              <a:buSzPct val="100000"/>
              <a:buChar char="•"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Không tune tham số trên test; không dùng nhãn khi phát hiện ngoại lệ.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191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DEMONSTRATE — BASELINE (MỐC SO SÁNH)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85800"/>
            <a:ext cx="108813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Cây chỉ sâu 1 tầng (depth = 1) đã bỏ xa baseline 20 điểm F1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33400" y="1285875"/>
            <a:ext cx="5143500" cy="1866900"/>
          </a:xfrm>
          <a:prstGeom prst="roundRect">
            <a:avLst>
              <a:gd name="adj" fmla="val 6122"/>
            </a:avLst>
          </a:prstGeom>
          <a:solidFill>
            <a:srgbClr val="F8D7DA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514475"/>
            <a:ext cx="4702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Baseline: đoán lớp phổ biến (Majority class)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4702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75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F1 = 0,7283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00100" y="2162175"/>
            <a:ext cx="4702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75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Độ chính xác (Accuracy) = 0,5727 — bằng đúng tỷ lệ Osmancik (57,2%). Mọi mô hình phải vượt mốc này.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943600" y="1285875"/>
            <a:ext cx="5143500" cy="1866900"/>
          </a:xfrm>
          <a:prstGeom prst="roundRect">
            <a:avLst>
              <a:gd name="adj" fmla="val 6122"/>
            </a:avLst>
          </a:prstGeom>
          <a:solidFill>
            <a:srgbClr val="D4EDDA"/>
          </a:solidFill>
          <a:ln w="19050">
            <a:solidFill>
              <a:srgbClr val="0F51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0300" y="1514475"/>
            <a:ext cx="4702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Cây depth = 1: 1 luật duy nhất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10300" y="1857375"/>
            <a:ext cx="4702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75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F1 = 0,9289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210300" y="2162175"/>
            <a:ext cx="470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75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Độ chính xác = 0,9177. Chỉ 1 ngưỡng trên 1 đặc trưng đã phân đúng 524/571 mẫu validation.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DEMONSTRATE — ĐỘ SÂU &amp; CẮT TỈA (DEPTH &amp; PRUNING)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28650"/>
            <a:ext cx="6800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27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Cây càng sâu càng dở: F1 giảm dần từ 0,9289 về 0,8916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562100"/>
            <a:ext cx="60236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F1 đạt đỉnh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0,9289 ở depth = 1–2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rơi xuống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0,8916 khi thả tự do (unlimited)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bằng chứng quá khớp (overfitting) trực quan nhất.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3400" y="2266950"/>
            <a:ext cx="6023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Cắt tỉa ccp_alpha (cost-complexity pruning) chọn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0,00879 bằng cross-validation 5-fold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; cây gọn còn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lá (leaves)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giữ nguyên F1 = 0,9289.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3400" y="3276600"/>
            <a:ext cx="60236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Kết luận (Conclusion): bài này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đơn giản thắng phức tạp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3 luật đủ mô tả 2 giống gạo.</a:t>
            </a:r>
            <a:endParaRPr lang="en-US" sz="1500" dirty="0"/>
          </a:p>
        </p:txBody>
      </p:sp>
      <p:pic>
        <p:nvPicPr>
          <p:cNvPr id="7" name="Image 0" descr="/tmp/html2pptx-JHhnLh/html2pptx-bg-1791694292250-aaea161e5bb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1562100"/>
            <a:ext cx="4953000" cy="37195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05600" y="1566862"/>
            <a:ext cx="4953000" cy="0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53838" y="1562100"/>
            <a:ext cx="0" cy="3719512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05600" y="5276850"/>
            <a:ext cx="4953000" cy="0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10362" y="1562100"/>
            <a:ext cx="0" cy="3719512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DEMONSTRATE — CÂY VS RỪNG (TREE VS FOREST)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28650"/>
            <a:ext cx="108813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27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Rừng thắng sít sao (+0,66 điểm F1), MajorAxis (Trục dài) gánh 30,55%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562100"/>
            <a:ext cx="4572000" cy="2843808"/>
          </a:xfrm>
          <a:prstGeom prst="roundRect">
            <a:avLst>
              <a:gd name="adj" fmla="val 4019"/>
            </a:avLst>
          </a:prstGeom>
          <a:solidFill>
            <a:srgbClr val="FFFFFF"/>
          </a:solidFill>
          <a:ln w="9525">
            <a:solidFill>
              <a:srgbClr val="D9D2C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743075"/>
            <a:ext cx="417766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Cây cắt tỉa (Pruned tree):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F1 = 0,9289, 3 lá, đọc hiểu trong 30 giây.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1525" y="2257425"/>
            <a:ext cx="417766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Rừng 200 cây (Forest):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F1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0,9355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, huấn luyện 0,3 giây, khó giải thích từng dự đoán.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1525" y="2771775"/>
            <a:ext cx="417766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Chọn rừng để sàng lọc (accuracy), giữ cây để giải thích (interpretability).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72100" y="1562100"/>
            <a:ext cx="4572000" cy="2843808"/>
          </a:xfrm>
          <a:prstGeom prst="roundRect">
            <a:avLst>
              <a:gd name="adj" fmla="val 4019"/>
            </a:avLst>
          </a:prstGeom>
          <a:solidFill>
            <a:srgbClr val="FFFFFF"/>
          </a:solidFill>
          <a:ln w="9525">
            <a:solidFill>
              <a:srgbClr val="D9D2C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10225" y="1743075"/>
            <a:ext cx="417766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Tầm quan trọng đặc trưng (Feature importance):</a:t>
            </a:r>
            <a:endParaRPr lang="en-US" sz="1500" dirty="0"/>
          </a:p>
        </p:txBody>
      </p:sp>
      <p:pic>
        <p:nvPicPr>
          <p:cNvPr id="10" name="Image 0" descr="/tmp/html2pptx-y1dLXI/html2pptx-bg-1791694292531-d71a96a23b5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0225" y="2257425"/>
            <a:ext cx="4095750" cy="19198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PRACTICE — KẾT QUẢ KIỂM THỬ (TEST RESULTS, n = 572)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28650"/>
            <a:ext cx="6800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27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Đánh giá 1 lần duy nhất: đúng 525/572 mẫu (91,78%)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562100"/>
            <a:ext cx="60236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Độ chính xác (Accuracy) =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0,9178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; F1 =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0,9295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; ROC-AUC = 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0,9769</a:t>
            </a:r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962150"/>
          <a:ext cx="9144000" cy="914400"/>
        </p:xfrm>
        <a:graphic>
          <a:graphicData uri="http://schemas.openxmlformats.org/drawingml/2006/table">
            <a:tbl>
              <a:tblPr/>
              <a:tblGrid>
                <a:gridCol w="2313842"/>
                <a:gridCol w="1738139"/>
                <a:gridCol w="1853518"/>
              </a:tblGrid>
              <a:tr h="43939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Đoán Cammeo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Đoán Osmancik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2C"/>
                    </a:solidFill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Thật Cammeo (245)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215 (87,8%)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30 (12,2%)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Thật Osmancik (327)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17 (5,2%)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6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82231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310 (94,8%)</a:t>
                      </a:r>
                      <a:endParaRPr lang="en-US" sz="13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400" y="3280321"/>
            <a:ext cx="60236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Osmancik nhận diện tốt hơn Cammeo 7 điểm phần trăm — giá của mất cân bằng lớp (class imbalance) 57/43.</a:t>
            </a:r>
            <a:endParaRPr lang="en-US" sz="1500" dirty="0"/>
          </a:p>
        </p:txBody>
      </p:sp>
      <p:pic>
        <p:nvPicPr>
          <p:cNvPr id="7" name="Image 0" descr="/tmp/html2pptx-z6OhWW/html2pptx-bg-1791694292796-29a55f15b04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1562100"/>
            <a:ext cx="4762500" cy="35766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05600" y="1566862"/>
            <a:ext cx="4762500" cy="0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63337" y="1562100"/>
            <a:ext cx="0" cy="3576638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705600" y="5133975"/>
            <a:ext cx="4762500" cy="0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10362" y="1562100"/>
            <a:ext cx="0" cy="3576638"/>
          </a:xfrm>
          <a:prstGeom prst="line">
            <a:avLst/>
          </a:prstGeom>
          <a:noFill/>
          <a:ln w="9525">
            <a:solidFill>
              <a:srgbClr val="CFC7B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 + APPLY — LỖI TẬP TRUNG Ở ĐÂU? (WHERE DO ERRORS CLUSTER?)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28650"/>
            <a:ext cx="108813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47/572 lỗi (8,2%) dồn vào vùng 2 giống chồng lấn nhau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181100"/>
            <a:ext cx="10668000" cy="1209675"/>
          </a:xfrm>
          <a:prstGeom prst="roundRect">
            <a:avLst>
              <a:gd name="adj" fmla="val 9449"/>
            </a:avLst>
          </a:prstGeom>
          <a:solidFill>
            <a:srgbClr val="FDE8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371600"/>
            <a:ext cx="1037615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Vùng nóng 1 — MajorAxis (Trục dài) từ 185,65 đến 202,53: sai </a:t>
            </a:r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37/143 mẫu (25,9%)</a:t>
            </a:r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050" y="1647825"/>
            <a:ext cx="1037615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Vùng nóng 2 — Perimeter (Chu vi) từ 449,10 đến 481,63: sai </a:t>
            </a:r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35/143 mẫu (24,5%)</a:t>
            </a:r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050" y="1924050"/>
            <a:ext cx="1037615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Ngoài 2 vùng này, tỷ lệ sai rơi về </a:t>
            </a:r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0,0%–7,7%</a:t>
            </a:r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hạt quá dài hoặc quá ngắn thì mô hình gần như không trượt.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524125"/>
            <a:ext cx="10668000" cy="742950"/>
          </a:xfrm>
          <a:prstGeom prst="roundRect">
            <a:avLst>
              <a:gd name="adj" fmla="val 15385"/>
            </a:avLst>
          </a:prstGeom>
          <a:solidFill>
            <a:srgbClr val="E6F4EA"/>
          </a:solidFill>
          <a:ln w="19050">
            <a:solidFill>
              <a:srgbClr val="0F51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676525"/>
            <a:ext cx="1037615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Ứng dụng (Application): đặt cảnh báo </a:t>
            </a:r>
            <a:pPr algn="l" indent="0" marL="0">
              <a:buNone/>
            </a:pPr>
            <a:r>
              <a:rPr lang="en-US" sz="15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uncertain</a:t>
            </a:r>
            <a:pPr algn="l" indent="0" marL="0">
              <a:buNone/>
            </a:pPr>
            <a:r>
              <a:rPr lang="en-US" sz="15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khi xác suất trong [0,45–0,55] và gắn cờ ngoài miền (out-of-domain) cho hạt nằm ngoài miền huấn luyện.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11347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8B6A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APPLY — DEMO TRỰC TIẾP 5 PHÚT, 100% CHUỘT (LIVE DEMO)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628650"/>
            <a:ext cx="108813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màn hình + 1 API: nhập số — bấm — ra giống gạo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181100"/>
            <a:ext cx="3429000" cy="1595438"/>
          </a:xfrm>
          <a:prstGeom prst="roundRect">
            <a:avLst>
              <a:gd name="adj" fmla="val 7164"/>
            </a:avLst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371600"/>
            <a:ext cx="3031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575" b="1" dirty="0">
                <a:solidFill>
                  <a:srgbClr val="FFD8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Giới thiệu (Intro)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62000" y="1695450"/>
            <a:ext cx="303123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Aft>
                <a:spcPts val="60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Phạm vi, 7 đặc trưng, giới hạn mô hình. Không thay thế kiểm nghiệm chính thức.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4191000" y="1181100"/>
            <a:ext cx="3429000" cy="1595438"/>
          </a:xfrm>
          <a:prstGeom prst="roundRect">
            <a:avLst>
              <a:gd name="adj" fmla="val 7164"/>
            </a:avLst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19600" y="1371600"/>
            <a:ext cx="3031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575" b="1" dirty="0">
                <a:solidFill>
                  <a:srgbClr val="FFD8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Phân loại (Classify)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4419600" y="1695450"/>
            <a:ext cx="303123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Aft>
                <a:spcPts val="60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thanh trượt + nút Dự đoán (Predict); tải CSV lô 20 mẫu. Hiện quy tắc cây + cảnh báo.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848600" y="1181100"/>
            <a:ext cx="3429000" cy="1595438"/>
          </a:xfrm>
          <a:prstGeom prst="roundRect">
            <a:avLst>
              <a:gd name="adj" fmla="val 7164"/>
            </a:avLst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77200" y="1371600"/>
            <a:ext cx="3031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575" b="1" dirty="0">
                <a:solidFill>
                  <a:srgbClr val="FFD8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Đánh giá (Dashboard)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8077200" y="1695450"/>
            <a:ext cx="303123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Aft>
                <a:spcPts val="60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Accuracy, F1, ma trận nhầm lẫn, model card. Số nào cũng bấm ra được.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33400" y="2928938"/>
            <a:ext cx="10668000" cy="704850"/>
          </a:xfrm>
          <a:prstGeom prst="roundRect">
            <a:avLst>
              <a:gd name="adj" fmla="val 10811"/>
            </a:avLst>
          </a:prstGeom>
          <a:solidFill>
            <a:srgbClr val="1822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3900" y="3043238"/>
            <a:ext cx="104927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7EF0A0"/>
                </a:solidFill>
                <a:latin typeface="JetBrainsMono NF" pitchFamily="34" charset="0"/>
                <a:ea typeface="JetBrainsMono NF" pitchFamily="34" charset="-122"/>
                <a:cs typeface="JetBrainsMono NF" pitchFamily="34" charset="-120"/>
              </a:rPr>
              <a:t>POST /api/rice-classify → {"variety": "Cammeo", "probability": 0.365} — input xấu trả lỗi 400, không sập app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11269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8C76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REFLECT + REVIEW — T.I.M.E. &amp; KẾT LUẬN (CONCLUSION)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71500" y="723900"/>
            <a:ext cx="108813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2700" b="1" dirty="0">
                <a:solidFill>
                  <a:srgbClr val="F5F2E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Trả lời câu hỏi nghiên cứu: cây đủ tốt, rừng nhỉnh hơn — dùng cả hai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657350"/>
            <a:ext cx="10668000" cy="723900"/>
          </a:xfrm>
          <a:prstGeom prst="roundRect">
            <a:avLst>
              <a:gd name="adj" fmla="val 13158"/>
            </a:avLst>
          </a:prstGeom>
          <a:solidFill>
            <a:srgbClr val="1D3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790700"/>
            <a:ext cx="10453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F5F2E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Cây 3 lá đạt F1 = 0,9289 (quá đủ để giải thích); rừng đạt F1 = 0,9355 (hơn 0,66 điểm) nên cầm đi sàng lọc. Test độc lập: đúng 525/572 mẫu (91,78%).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71500" y="2552700"/>
            <a:ext cx="2495550" cy="1002804"/>
          </a:xfrm>
          <a:prstGeom prst="roundRect">
            <a:avLst>
              <a:gd name="adj" fmla="val 9498"/>
            </a:avLst>
          </a:prstGeom>
          <a:solidFill>
            <a:srgbClr val="F5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2686050"/>
            <a:ext cx="2195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Teach (Dạy)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42950" y="2952750"/>
            <a:ext cx="2195703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Chia tập trước khi học; baseline trước, mô hình sau.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257550" y="2552700"/>
            <a:ext cx="2495550" cy="1002804"/>
          </a:xfrm>
          <a:prstGeom prst="roundRect">
            <a:avLst>
              <a:gd name="adj" fmla="val 9498"/>
            </a:avLst>
          </a:prstGeom>
          <a:solidFill>
            <a:srgbClr val="F5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000" y="2686050"/>
            <a:ext cx="2195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Inspire (Cảm hứng)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429000" y="2952750"/>
            <a:ext cx="2195703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luật đơn đã đúng 91,77% — đơn giản cũng mạnh.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943600" y="2552700"/>
            <a:ext cx="2495550" cy="1002804"/>
          </a:xfrm>
          <a:prstGeom prst="roundRect">
            <a:avLst>
              <a:gd name="adj" fmla="val 9498"/>
            </a:avLst>
          </a:prstGeom>
          <a:solidFill>
            <a:srgbClr val="F5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15050" y="2686050"/>
            <a:ext cx="2195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Motivate (Động lực)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115050" y="2952750"/>
            <a:ext cx="2195703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Mọi con số ở đây chạy lại được bằng 3 lệnh.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8629650" y="2552700"/>
            <a:ext cx="2495550" cy="1002804"/>
          </a:xfrm>
          <a:prstGeom prst="roundRect">
            <a:avLst>
              <a:gd name="adj" fmla="val 9498"/>
            </a:avLst>
          </a:prstGeom>
          <a:solidFill>
            <a:srgbClr val="F5F2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01100" y="2686050"/>
            <a:ext cx="2195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Empower (Trao quyền)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8801100" y="2952750"/>
            <a:ext cx="2195703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Web demo + API mở cho cơ sở đóng gói dùng tiếp.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2026-10-11T04:51:33Z</dcterms:created>
  <dcterms:modified xsi:type="dcterms:W3CDTF">2026-10-11T04:51:33Z</dcterms:modified>
</cp:coreProperties>
</file>